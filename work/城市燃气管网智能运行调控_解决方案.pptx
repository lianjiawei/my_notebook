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98" y="10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636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FAE1A-EDA5-A32E-5C0E-3DB8201F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F1EDE-4417-B49C-54ED-BDB078842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5C60E-8C7B-5819-32C7-8BAA67E8D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A4994-8561-42FF-AB3D-9A2746A5D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34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9838"/>
            <a:ext cx="91440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6200"/>
            <a:ext cx="88605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城市燃气管网智能运行调控解决方案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6950" y="425351"/>
            <a:ext cx="5067300" cy="421928"/>
          </a:xfrm>
          <a:prstGeom prst="roundRect">
            <a:avLst>
              <a:gd name="adj" fmla="val 6020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9876" y="460177"/>
            <a:ext cx="5019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智能调度业务场景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9876" y="634752"/>
            <a:ext cx="963960" cy="177701"/>
          </a:xfrm>
          <a:prstGeom prst="roundRect">
            <a:avLst>
              <a:gd name="adj" fmla="val 14294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8814" y="656927"/>
            <a:ext cx="886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供气计划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9137" y="634752"/>
            <a:ext cx="964109" cy="177701"/>
          </a:xfrm>
          <a:prstGeom prst="roundRect">
            <a:avLst>
              <a:gd name="adj" fmla="val 14294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28073" y="656927"/>
            <a:ext cx="8862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78546" y="634752"/>
            <a:ext cx="963960" cy="177701"/>
          </a:xfrm>
          <a:prstGeom prst="roundRect">
            <a:avLst>
              <a:gd name="adj" fmla="val 14294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17484" y="656927"/>
            <a:ext cx="886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峰谷调度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67807" y="634752"/>
            <a:ext cx="964109" cy="177701"/>
          </a:xfrm>
          <a:prstGeom prst="roundRect">
            <a:avLst>
              <a:gd name="adj" fmla="val 14294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06743" y="656927"/>
            <a:ext cx="8862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应急处置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57216" y="634752"/>
            <a:ext cx="964109" cy="177701"/>
          </a:xfrm>
          <a:prstGeom prst="roundRect">
            <a:avLst>
              <a:gd name="adj" fmla="val 14294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6152" y="656927"/>
            <a:ext cx="8862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管存调峰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277" y="859929"/>
            <a:ext cx="5168646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6950" y="974080"/>
            <a:ext cx="5067300" cy="1342579"/>
          </a:xfrm>
          <a:prstGeom prst="roundRect">
            <a:avLst>
              <a:gd name="adj" fmla="val 1892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9876" y="1008906"/>
            <a:ext cx="5019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调度核心能力层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9876" y="1183481"/>
            <a:ext cx="1623566" cy="1098352"/>
          </a:xfrm>
          <a:prstGeom prst="roundRect">
            <a:avLst>
              <a:gd name="adj" fmla="val 2313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0152" y="1218307"/>
            <a:ext cx="15330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管网在线仿真引擎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0152" y="1351657"/>
            <a:ext cx="1503015" cy="7620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452" y="1408807"/>
            <a:ext cx="1416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稳态/动态仿真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4452" y="1599307"/>
            <a:ext cx="1416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沙箱推演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4452" y="1789807"/>
            <a:ext cx="1416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软表补盲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74452" y="1980307"/>
            <a:ext cx="1416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安全诊断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0152" y="2113657"/>
            <a:ext cx="15330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湃孚管能大脑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48743" y="1183481"/>
            <a:ext cx="1623715" cy="1098352"/>
          </a:xfrm>
          <a:prstGeom prst="roundRect">
            <a:avLst>
              <a:gd name="adj" fmla="val 2313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909018" y="1218307"/>
            <a:ext cx="1533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AI负荷预测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09018" y="1351657"/>
            <a:ext cx="1503164" cy="5715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23318" y="1408807"/>
            <a:ext cx="1416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日前/日内预测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023318" y="1599307"/>
            <a:ext cx="1416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气象融合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023318" y="1789807"/>
            <a:ext cx="1416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盘古时序大模型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09018" y="1923157"/>
            <a:ext cx="1533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ModelArts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97759" y="1183481"/>
            <a:ext cx="1623566" cy="1098352"/>
          </a:xfrm>
          <a:prstGeom prst="roundRect">
            <a:avLst>
              <a:gd name="adj" fmla="val 2313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58034" y="1218307"/>
            <a:ext cx="15330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调度方案优化寻优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58034" y="1351657"/>
            <a:ext cx="1503015" cy="5715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72334" y="1408807"/>
            <a:ext cx="1416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多气源流量/压力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72334" y="1599307"/>
            <a:ext cx="1416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成本结构优化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72334" y="1789807"/>
            <a:ext cx="1416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管存优化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58034" y="1923157"/>
            <a:ext cx="15330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仿真+AI联合求解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6277" y="2329309"/>
            <a:ext cx="5168646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26950" y="2443459"/>
            <a:ext cx="5067300" cy="1500633"/>
          </a:xfrm>
          <a:prstGeom prst="roundRect">
            <a:avLst>
              <a:gd name="adj" fmla="val 4574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99876" y="2478286"/>
            <a:ext cx="5019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数据汇聚与治理层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571327" y="2727424"/>
            <a:ext cx="1296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99876" y="3542556"/>
            <a:ext cx="2289324" cy="327718"/>
          </a:xfrm>
          <a:prstGeom prst="roundRect">
            <a:avLst>
              <a:gd name="adj" fmla="val 8166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管道端侧工况数据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压力、流量、阀门状态、压力设定值、用气量</a:t>
            </a:r>
            <a:endParaRPr 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769110" y="2675037"/>
            <a:ext cx="15191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ROMA Connect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769110" y="2808387"/>
            <a:ext cx="15191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数据集成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358902" y="2727424"/>
            <a:ext cx="1296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511302" y="2652861"/>
            <a:ext cx="1610023" cy="311051"/>
          </a:xfrm>
          <a:prstGeom prst="roundRect">
            <a:avLst>
              <a:gd name="adj" fmla="val 8166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556683" y="2675037"/>
            <a:ext cx="1519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DataArts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556683" y="2808387"/>
            <a:ext cx="1519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26950" y="4128045"/>
            <a:ext cx="5067300" cy="555278"/>
          </a:xfrm>
          <a:prstGeom prst="roundRect">
            <a:avLst>
              <a:gd name="adj" fmla="val 4574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99876" y="4162871"/>
            <a:ext cx="5019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感知与连接层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99876" y="4337447"/>
            <a:ext cx="1623566" cy="311051"/>
          </a:xfrm>
          <a:prstGeom prst="roundRect">
            <a:avLst>
              <a:gd name="adj" fmla="val 8166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232218" y="4359622"/>
            <a:ext cx="1558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门站/调压站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32218" y="4492972"/>
            <a:ext cx="1558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SCADA监测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848743" y="4337447"/>
            <a:ext cx="1623715" cy="311051"/>
          </a:xfrm>
          <a:prstGeom prst="roundRect">
            <a:avLst>
              <a:gd name="adj" fmla="val 8166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881083" y="4359622"/>
            <a:ext cx="1559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中低压管网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881083" y="4492972"/>
            <a:ext cx="1559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NB-IoT+仿真补盲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497759" y="4337447"/>
            <a:ext cx="1623566" cy="311051"/>
          </a:xfrm>
          <a:prstGeom prst="roundRect">
            <a:avLst>
              <a:gd name="adj" fmla="val 8166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530100" y="4359622"/>
            <a:ext cx="1558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末端用户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530100" y="4492972"/>
            <a:ext cx="1558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智能表计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95751" y="425351"/>
            <a:ext cx="3721298" cy="1691878"/>
          </a:xfrm>
          <a:prstGeom prst="roundRect">
            <a:avLst>
              <a:gd name="adj" fmla="val 1501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381476" y="472976"/>
            <a:ext cx="3620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关键竞争力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381476" y="685651"/>
            <a:ext cx="3549848" cy="126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381476" y="723602"/>
            <a:ext cx="3620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仿真+AI双引擎驱动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381476" y="885527"/>
            <a:ext cx="3620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国产仿真引擎+盘古大模型联合求解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381476" y="1060103"/>
            <a:ext cx="3620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OT-IT全栈融合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381476" y="1222028"/>
            <a:ext cx="3620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SCADA采集到AI调度全链路闭环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381476" y="1396603"/>
            <a:ext cx="3620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信创合规全栈覆盖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381476" y="1558528"/>
            <a:ext cx="3620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鲲鹏+欧拉+国产仿真+国产SCADA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381476" y="1733104"/>
            <a:ext cx="3620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物理+计算双重补盲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381476" y="1950541"/>
            <a:ext cx="3620845" cy="10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NB-IoT+仿真软表消除监测盲区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295751" y="2155329"/>
            <a:ext cx="3721298" cy="1349127"/>
          </a:xfrm>
          <a:prstGeom prst="roundRect">
            <a:avLst>
              <a:gd name="adj" fmla="val 1883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5381476" y="2202954"/>
            <a:ext cx="3620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解决方案产品组合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5381476" y="2415629"/>
            <a:ext cx="3549848" cy="126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5381476" y="2453580"/>
            <a:ext cx="1749475" cy="180975"/>
          </a:xfrm>
          <a:prstGeom prst="roundRect">
            <a:avLst>
              <a:gd name="adj" fmla="val 14035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5412559" y="2463105"/>
            <a:ext cx="16873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381476" y="2647206"/>
            <a:ext cx="17844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华为云Stack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5381476" y="2809131"/>
            <a:ext cx="17844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鲲鹏+Atlas算力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381476" y="2971056"/>
            <a:ext cx="17844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ROMA Connect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5381476" y="3132981"/>
            <a:ext cx="17844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DataArts / ModelArts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381476" y="3294906"/>
            <a:ext cx="17844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盘古大模型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7181701" y="2453580"/>
            <a:ext cx="1749623" cy="180975"/>
          </a:xfrm>
          <a:prstGeom prst="roundRect">
            <a:avLst>
              <a:gd name="adj" fmla="val 14035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7212782" y="2463105"/>
            <a:ext cx="16874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伙伴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7181701" y="2647206"/>
            <a:ext cx="17846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亚控/力控(SCADA)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181701" y="2809131"/>
            <a:ext cx="17846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湃孚管能大脑(仿真)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181701" y="2971056"/>
            <a:ext cx="17846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超图/中地(GIS)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7181701" y="3132981"/>
            <a:ext cx="17846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睿呈时代(可视化)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5295751" y="3542556"/>
            <a:ext cx="3721298" cy="939403"/>
          </a:xfrm>
          <a:prstGeom prst="roundRect">
            <a:avLst>
              <a:gd name="adj" fmla="val 2704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5381476" y="3590181"/>
            <a:ext cx="3620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5381476" y="3802856"/>
            <a:ext cx="3549848" cy="126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5381476" y="3840807"/>
            <a:ext cx="773311" cy="180975"/>
          </a:xfrm>
          <a:prstGeom prst="roundRect">
            <a:avLst>
              <a:gd name="adj" fmla="val 14035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5422321" y="3850332"/>
            <a:ext cx="6916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P1(6-12月)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205538" y="3840807"/>
            <a:ext cx="21348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感知补盲+数据汇聚+管网态势一张图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5381476" y="4047083"/>
            <a:ext cx="851595" cy="180975"/>
          </a:xfrm>
          <a:prstGeom prst="roundRect">
            <a:avLst>
              <a:gd name="adj" fmla="val 14035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5421538" y="4056608"/>
            <a:ext cx="7714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P2(12-18月)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283821" y="4047083"/>
            <a:ext cx="20053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负荷预测上线+在线仿真+异常预警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5381476" y="4253359"/>
            <a:ext cx="851595" cy="180975"/>
          </a:xfrm>
          <a:prstGeom prst="roundRect">
            <a:avLst>
              <a:gd name="adj" fmla="val 14035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5421538" y="4262884"/>
            <a:ext cx="7714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P3(18-24月)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6283821" y="4253359"/>
            <a:ext cx="22643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调度方案自动推荐+应急仿真+管存调峰</a:t>
            </a:r>
            <a:endParaRPr lang="en-US" sz="1000" dirty="0"/>
          </a:p>
        </p:txBody>
      </p:sp>
      <p:sp>
        <p:nvSpPr>
          <p:cNvPr id="105" name="Text 45">
            <a:extLst>
              <a:ext uri="{FF2B5EF4-FFF2-40B4-BE49-F238E27FC236}">
                <a16:creationId xmlns:a16="http://schemas.microsoft.com/office/drawing/2014/main" id="{DC60CFAF-4E7A-4871-FFA6-C783533646EB}"/>
              </a:ext>
            </a:extLst>
          </p:cNvPr>
          <p:cNvSpPr/>
          <p:nvPr/>
        </p:nvSpPr>
        <p:spPr>
          <a:xfrm>
            <a:off x="2561828" y="3542556"/>
            <a:ext cx="1789192" cy="327718"/>
          </a:xfrm>
          <a:prstGeom prst="roundRect">
            <a:avLst>
              <a:gd name="adj" fmla="val 8166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GIS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拓扑数据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管段、节点、设备、用户接入位置</a:t>
            </a:r>
            <a:endParaRPr 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 45">
            <a:extLst>
              <a:ext uri="{FF2B5EF4-FFF2-40B4-BE49-F238E27FC236}">
                <a16:creationId xmlns:a16="http://schemas.microsoft.com/office/drawing/2014/main" id="{9704EE2E-CD20-E77F-3E68-7E744A99AA7F}"/>
              </a:ext>
            </a:extLst>
          </p:cNvPr>
          <p:cNvSpPr/>
          <p:nvPr/>
        </p:nvSpPr>
        <p:spPr>
          <a:xfrm>
            <a:off x="4403817" y="3542556"/>
            <a:ext cx="1789192" cy="327718"/>
          </a:xfrm>
          <a:prstGeom prst="roundRect">
            <a:avLst>
              <a:gd name="adj" fmla="val 8166"/>
            </a:avLst>
          </a:prstGeom>
          <a:noFill/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系统类数据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用户数据、合同数据、历史负荷数据</a:t>
            </a:r>
            <a:endParaRPr 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35284-CBD1-7C79-1401-0C033E7B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BC4BFF8-6B02-35A6-A264-E715755B10A0}"/>
              </a:ext>
            </a:extLst>
          </p:cNvPr>
          <p:cNvSpPr/>
          <p:nvPr/>
        </p:nvSpPr>
        <p:spPr>
          <a:xfrm>
            <a:off x="228600" y="76200"/>
            <a:ext cx="88605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城市燃气管网智能运行调控解决方案</a:t>
            </a:r>
            <a:r>
              <a:rPr lang="zh-CN" altLang="en-US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（厂网运行智能调度</a:t>
            </a:r>
            <a:r>
              <a:rPr lang="en-US" altLang="zh-CN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气源供给预测行业场景）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1BBCF38-D09B-FCCA-4D4B-1CE9B0275128}"/>
              </a:ext>
            </a:extLst>
          </p:cNvPr>
          <p:cNvSpPr/>
          <p:nvPr/>
        </p:nvSpPr>
        <p:spPr>
          <a:xfrm>
            <a:off x="126950" y="2531759"/>
            <a:ext cx="5777236" cy="1762865"/>
          </a:xfrm>
          <a:prstGeom prst="roundRect">
            <a:avLst>
              <a:gd name="adj" fmla="val 4574"/>
            </a:avLst>
          </a:prstGeom>
          <a:noFill/>
          <a:ln w="1270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数据汇聚与融合治理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EACCD1F-3C1D-F5B3-3DFD-08EEBFD8579F}"/>
              </a:ext>
            </a:extLst>
          </p:cNvPr>
          <p:cNvSpPr/>
          <p:nvPr/>
        </p:nvSpPr>
        <p:spPr>
          <a:xfrm>
            <a:off x="199876" y="3898813"/>
            <a:ext cx="2289324" cy="327718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管道端侧工况数据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压力、流量、阀门状态、压力设定值、用气量</a:t>
            </a:r>
            <a:endParaRPr 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B85983E-85C4-7777-7764-926892025348}"/>
              </a:ext>
            </a:extLst>
          </p:cNvPr>
          <p:cNvSpPr/>
          <p:nvPr/>
        </p:nvSpPr>
        <p:spPr>
          <a:xfrm>
            <a:off x="126949" y="4465306"/>
            <a:ext cx="5777235" cy="590332"/>
          </a:xfrm>
          <a:prstGeom prst="roundRect">
            <a:avLst>
              <a:gd name="adj" fmla="val 4574"/>
            </a:avLst>
          </a:prstGeom>
          <a:noFill/>
          <a:ln w="12700">
            <a:solidFill>
              <a:srgbClr val="0070C0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感知与连接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Text 45">
            <a:extLst>
              <a:ext uri="{FF2B5EF4-FFF2-40B4-BE49-F238E27FC236}">
                <a16:creationId xmlns:a16="http://schemas.microsoft.com/office/drawing/2014/main" id="{F77455FE-DDBF-C1B7-5476-13CA73939890}"/>
              </a:ext>
            </a:extLst>
          </p:cNvPr>
          <p:cNvSpPr/>
          <p:nvPr/>
        </p:nvSpPr>
        <p:spPr>
          <a:xfrm>
            <a:off x="2561828" y="3898813"/>
            <a:ext cx="1789192" cy="327718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GIS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拓扑数据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管段、节点、设备、用户接入位置</a:t>
            </a:r>
            <a:endParaRPr 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 45">
            <a:extLst>
              <a:ext uri="{FF2B5EF4-FFF2-40B4-BE49-F238E27FC236}">
                <a16:creationId xmlns:a16="http://schemas.microsoft.com/office/drawing/2014/main" id="{8DA72D32-9B33-43F5-0FFB-F3B867F00EBD}"/>
              </a:ext>
            </a:extLst>
          </p:cNvPr>
          <p:cNvSpPr/>
          <p:nvPr/>
        </p:nvSpPr>
        <p:spPr>
          <a:xfrm>
            <a:off x="4403817" y="3898813"/>
            <a:ext cx="1457014" cy="327718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系统类数据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用户、合同、历史负荷数据</a:t>
            </a:r>
            <a:endParaRPr 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D388B90E-31EB-8279-EB73-45968A5ABB86}"/>
              </a:ext>
            </a:extLst>
          </p:cNvPr>
          <p:cNvSpPr/>
          <p:nvPr/>
        </p:nvSpPr>
        <p:spPr>
          <a:xfrm>
            <a:off x="199876" y="4724298"/>
            <a:ext cx="1648867" cy="267649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门站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调压站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SCADA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监测</a:t>
            </a:r>
            <a:endParaRPr 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F8453BA9-561B-9DDC-CE0D-862D49F35BBE}"/>
              </a:ext>
            </a:extLst>
          </p:cNvPr>
          <p:cNvSpPr/>
          <p:nvPr/>
        </p:nvSpPr>
        <p:spPr>
          <a:xfrm>
            <a:off x="199875" y="3378512"/>
            <a:ext cx="5660955" cy="445738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OT/IT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数据集成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 45">
            <a:extLst>
              <a:ext uri="{FF2B5EF4-FFF2-40B4-BE49-F238E27FC236}">
                <a16:creationId xmlns:a16="http://schemas.microsoft.com/office/drawing/2014/main" id="{B9F18052-9C49-FFE5-EB8D-80C7EA35116B}"/>
              </a:ext>
            </a:extLst>
          </p:cNvPr>
          <p:cNvSpPr/>
          <p:nvPr/>
        </p:nvSpPr>
        <p:spPr>
          <a:xfrm>
            <a:off x="2023467" y="4724298"/>
            <a:ext cx="1648867" cy="267649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低压管网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仿真盲补</a:t>
            </a:r>
            <a:endParaRPr lang="en-US" sz="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Text 45">
            <a:extLst>
              <a:ext uri="{FF2B5EF4-FFF2-40B4-BE49-F238E27FC236}">
                <a16:creationId xmlns:a16="http://schemas.microsoft.com/office/drawing/2014/main" id="{84F59EF9-78F6-72A5-86D7-35CA661C753E}"/>
              </a:ext>
            </a:extLst>
          </p:cNvPr>
          <p:cNvSpPr/>
          <p:nvPr/>
        </p:nvSpPr>
        <p:spPr>
          <a:xfrm>
            <a:off x="3847058" y="4724298"/>
            <a:ext cx="2013772" cy="267649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末端用户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智能表计</a:t>
            </a:r>
            <a:endParaRPr 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Text 45">
            <a:extLst>
              <a:ext uri="{FF2B5EF4-FFF2-40B4-BE49-F238E27FC236}">
                <a16:creationId xmlns:a16="http://schemas.microsoft.com/office/drawing/2014/main" id="{3FD98E9E-71C0-C039-39A7-4F505ECE42BE}"/>
              </a:ext>
            </a:extLst>
          </p:cNvPr>
          <p:cNvSpPr/>
          <p:nvPr/>
        </p:nvSpPr>
        <p:spPr>
          <a:xfrm>
            <a:off x="335016" y="3501493"/>
            <a:ext cx="2154183" cy="275392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物联网平台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工况类数据清洗、补全、异常值处理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 45">
            <a:extLst>
              <a:ext uri="{FF2B5EF4-FFF2-40B4-BE49-F238E27FC236}">
                <a16:creationId xmlns:a16="http://schemas.microsoft.com/office/drawing/2014/main" id="{52BC5179-9E82-848D-B0E4-515BE777EA6F}"/>
              </a:ext>
            </a:extLst>
          </p:cNvPr>
          <p:cNvSpPr/>
          <p:nvPr/>
        </p:nvSpPr>
        <p:spPr>
          <a:xfrm>
            <a:off x="3679729" y="3501493"/>
            <a:ext cx="2154183" cy="275392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ROMA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Connect</a:t>
            </a:r>
          </a:p>
          <a:p>
            <a:pPr marL="0" indent="0" algn="ctr">
              <a:buNone/>
            </a:pP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系统、库表、文件类数据接入</a:t>
            </a:r>
            <a:endParaRPr 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 45">
            <a:extLst>
              <a:ext uri="{FF2B5EF4-FFF2-40B4-BE49-F238E27FC236}">
                <a16:creationId xmlns:a16="http://schemas.microsoft.com/office/drawing/2014/main" id="{D7F80EBE-37A2-8B82-4F89-BB0DD5CE685B}"/>
              </a:ext>
            </a:extLst>
          </p:cNvPr>
          <p:cNvSpPr/>
          <p:nvPr/>
        </p:nvSpPr>
        <p:spPr>
          <a:xfrm>
            <a:off x="199875" y="2874116"/>
            <a:ext cx="5660955" cy="445738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DataArts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Text 45">
            <a:extLst>
              <a:ext uri="{FF2B5EF4-FFF2-40B4-BE49-F238E27FC236}">
                <a16:creationId xmlns:a16="http://schemas.microsoft.com/office/drawing/2014/main" id="{D1EE871B-709C-62E0-1AE1-137DE90E72EE}"/>
              </a:ext>
            </a:extLst>
          </p:cNvPr>
          <p:cNvSpPr/>
          <p:nvPr/>
        </p:nvSpPr>
        <p:spPr>
          <a:xfrm>
            <a:off x="260152" y="3097308"/>
            <a:ext cx="1335287" cy="198262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用气专题库数据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Text 45">
            <a:extLst>
              <a:ext uri="{FF2B5EF4-FFF2-40B4-BE49-F238E27FC236}">
                <a16:creationId xmlns:a16="http://schemas.microsoft.com/office/drawing/2014/main" id="{526E632D-92DF-94F8-B13A-32C238E1C89E}"/>
              </a:ext>
            </a:extLst>
          </p:cNvPr>
          <p:cNvSpPr/>
          <p:nvPr/>
        </p:nvSpPr>
        <p:spPr>
          <a:xfrm>
            <a:off x="1655197" y="3097308"/>
            <a:ext cx="1331798" cy="198262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供气专题库数据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Text 45">
            <a:extLst>
              <a:ext uri="{FF2B5EF4-FFF2-40B4-BE49-F238E27FC236}">
                <a16:creationId xmlns:a16="http://schemas.microsoft.com/office/drawing/2014/main" id="{D239DB64-C0FE-9CAF-74AF-EFAC462556A7}"/>
              </a:ext>
            </a:extLst>
          </p:cNvPr>
          <p:cNvSpPr/>
          <p:nvPr/>
        </p:nvSpPr>
        <p:spPr>
          <a:xfrm>
            <a:off x="3030351" y="3097308"/>
            <a:ext cx="1331799" cy="198262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GIS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专题库数据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Text 45">
            <a:extLst>
              <a:ext uri="{FF2B5EF4-FFF2-40B4-BE49-F238E27FC236}">
                <a16:creationId xmlns:a16="http://schemas.microsoft.com/office/drawing/2014/main" id="{5379E1F4-2C5E-0A2E-6619-0AA17789D132}"/>
              </a:ext>
            </a:extLst>
          </p:cNvPr>
          <p:cNvSpPr/>
          <p:nvPr/>
        </p:nvSpPr>
        <p:spPr>
          <a:xfrm>
            <a:off x="4502112" y="3097308"/>
            <a:ext cx="1331799" cy="198262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气象专题库数据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Text 40">
            <a:extLst>
              <a:ext uri="{FF2B5EF4-FFF2-40B4-BE49-F238E27FC236}">
                <a16:creationId xmlns:a16="http://schemas.microsoft.com/office/drawing/2014/main" id="{5002A45F-4A3B-2FC5-CFF9-31AB0A0BEDE9}"/>
              </a:ext>
            </a:extLst>
          </p:cNvPr>
          <p:cNvSpPr/>
          <p:nvPr/>
        </p:nvSpPr>
        <p:spPr>
          <a:xfrm>
            <a:off x="126950" y="1290056"/>
            <a:ext cx="5777236" cy="1061496"/>
          </a:xfrm>
          <a:prstGeom prst="roundRect">
            <a:avLst>
              <a:gd name="adj" fmla="val 4574"/>
            </a:avLst>
          </a:prstGeom>
          <a:noFill/>
          <a:ln w="1270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城燃管网运行调度引擎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Text 45">
            <a:extLst>
              <a:ext uri="{FF2B5EF4-FFF2-40B4-BE49-F238E27FC236}">
                <a16:creationId xmlns:a16="http://schemas.microsoft.com/office/drawing/2014/main" id="{AD9DE05E-A9F6-2A0E-9D88-15A4E2467125}"/>
              </a:ext>
            </a:extLst>
          </p:cNvPr>
          <p:cNvSpPr/>
          <p:nvPr/>
        </p:nvSpPr>
        <p:spPr>
          <a:xfrm>
            <a:off x="199875" y="1568927"/>
            <a:ext cx="1455321" cy="720712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管网在线仿真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稳态</a:t>
            </a: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altLang="zh-CN" sz="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动态仿真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沙箱推演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软表补盲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/>
          </a:p>
        </p:txBody>
      </p:sp>
      <p:sp>
        <p:nvSpPr>
          <p:cNvPr id="119" name="Text 45">
            <a:extLst>
              <a:ext uri="{FF2B5EF4-FFF2-40B4-BE49-F238E27FC236}">
                <a16:creationId xmlns:a16="http://schemas.microsoft.com/office/drawing/2014/main" id="{73AC2F9B-5854-3CF8-A84B-54006C788D27}"/>
              </a:ext>
            </a:extLst>
          </p:cNvPr>
          <p:cNvSpPr/>
          <p:nvPr/>
        </p:nvSpPr>
        <p:spPr>
          <a:xfrm>
            <a:off x="1892406" y="1568927"/>
            <a:ext cx="1870771" cy="720712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用气负荷预测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气象预测（盘古）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日前</a:t>
            </a: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日内预测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深度学习模型 负荷预测算法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Text 45">
            <a:extLst>
              <a:ext uri="{FF2B5EF4-FFF2-40B4-BE49-F238E27FC236}">
                <a16:creationId xmlns:a16="http://schemas.microsoft.com/office/drawing/2014/main" id="{DA66D30A-E06A-AE43-C02D-3512D333E572}"/>
              </a:ext>
            </a:extLst>
          </p:cNvPr>
          <p:cNvSpPr/>
          <p:nvPr/>
        </p:nvSpPr>
        <p:spPr>
          <a:xfrm>
            <a:off x="3910013" y="1568927"/>
            <a:ext cx="1870771" cy="720712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调度运行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可视化监控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常态运行计划（日常调度）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保供预警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应急状态调度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21" name="Text 40">
            <a:extLst>
              <a:ext uri="{FF2B5EF4-FFF2-40B4-BE49-F238E27FC236}">
                <a16:creationId xmlns:a16="http://schemas.microsoft.com/office/drawing/2014/main" id="{A6049283-99C7-4E05-97A1-DBB34DF2711A}"/>
              </a:ext>
            </a:extLst>
          </p:cNvPr>
          <p:cNvSpPr/>
          <p:nvPr/>
        </p:nvSpPr>
        <p:spPr>
          <a:xfrm>
            <a:off x="126950" y="483306"/>
            <a:ext cx="5777236" cy="635882"/>
          </a:xfrm>
          <a:prstGeom prst="roundRect">
            <a:avLst>
              <a:gd name="adj" fmla="val 4574"/>
            </a:avLst>
          </a:prstGeom>
          <a:noFill/>
          <a:ln w="12700">
            <a:solidFill>
              <a:srgbClr val="0070C0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厂网运行智能调度综管系统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Text 45">
            <a:extLst>
              <a:ext uri="{FF2B5EF4-FFF2-40B4-BE49-F238E27FC236}">
                <a16:creationId xmlns:a16="http://schemas.microsoft.com/office/drawing/2014/main" id="{2CAF1BC5-2290-8B5D-390E-8FDE15F579CE}"/>
              </a:ext>
            </a:extLst>
          </p:cNvPr>
          <p:cNvSpPr/>
          <p:nvPr/>
        </p:nvSpPr>
        <p:spPr>
          <a:xfrm>
            <a:off x="199876" y="762177"/>
            <a:ext cx="1288068" cy="305314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供气计划</a:t>
            </a:r>
            <a:endParaRPr lang="en-US" altLang="zh-CN" sz="1000" dirty="0"/>
          </a:p>
        </p:txBody>
      </p:sp>
      <p:sp>
        <p:nvSpPr>
          <p:cNvPr id="123" name="Text 45">
            <a:extLst>
              <a:ext uri="{FF2B5EF4-FFF2-40B4-BE49-F238E27FC236}">
                <a16:creationId xmlns:a16="http://schemas.microsoft.com/office/drawing/2014/main" id="{DF379C02-6ADF-4109-B4C3-B3820407DE0F}"/>
              </a:ext>
            </a:extLst>
          </p:cNvPr>
          <p:cNvSpPr/>
          <p:nvPr/>
        </p:nvSpPr>
        <p:spPr>
          <a:xfrm>
            <a:off x="1708425" y="762177"/>
            <a:ext cx="1288068" cy="305314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实时监控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Text 45">
            <a:extLst>
              <a:ext uri="{FF2B5EF4-FFF2-40B4-BE49-F238E27FC236}">
                <a16:creationId xmlns:a16="http://schemas.microsoft.com/office/drawing/2014/main" id="{DCA319BD-5727-4682-8E9B-A90A4584AF41}"/>
              </a:ext>
            </a:extLst>
          </p:cNvPr>
          <p:cNvSpPr/>
          <p:nvPr/>
        </p:nvSpPr>
        <p:spPr>
          <a:xfrm>
            <a:off x="3216974" y="762177"/>
            <a:ext cx="1171664" cy="305314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峰谷调度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25" name="Text 45">
            <a:extLst>
              <a:ext uri="{FF2B5EF4-FFF2-40B4-BE49-F238E27FC236}">
                <a16:creationId xmlns:a16="http://schemas.microsoft.com/office/drawing/2014/main" id="{79FAEF94-8082-A9AD-B74D-4528A9B45F9F}"/>
              </a:ext>
            </a:extLst>
          </p:cNvPr>
          <p:cNvSpPr/>
          <p:nvPr/>
        </p:nvSpPr>
        <p:spPr>
          <a:xfrm>
            <a:off x="4609120" y="762177"/>
            <a:ext cx="1171664" cy="305314"/>
          </a:xfrm>
          <a:prstGeom prst="roundRect">
            <a:avLst>
              <a:gd name="adj" fmla="val 8166"/>
            </a:avLst>
          </a:prstGeom>
          <a:noFill/>
          <a:ln w="6350">
            <a:solidFill>
              <a:schemeClr val="tx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应急调度</a:t>
            </a:r>
            <a:endParaRPr lang="en-US" altLang="zh-CN" sz="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26" name="Text 65">
            <a:extLst>
              <a:ext uri="{FF2B5EF4-FFF2-40B4-BE49-F238E27FC236}">
                <a16:creationId xmlns:a16="http://schemas.microsoft.com/office/drawing/2014/main" id="{F2A2730B-6433-F3D2-B76D-9A03DA2AB7D4}"/>
              </a:ext>
            </a:extLst>
          </p:cNvPr>
          <p:cNvSpPr/>
          <p:nvPr/>
        </p:nvSpPr>
        <p:spPr>
          <a:xfrm>
            <a:off x="6453038" y="502153"/>
            <a:ext cx="2078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关键竞争力</a:t>
            </a:r>
            <a:endParaRPr lang="en-US" sz="1200" dirty="0"/>
          </a:p>
        </p:txBody>
      </p:sp>
      <p:sp>
        <p:nvSpPr>
          <p:cNvPr id="127" name="Text 65">
            <a:extLst>
              <a:ext uri="{FF2B5EF4-FFF2-40B4-BE49-F238E27FC236}">
                <a16:creationId xmlns:a16="http://schemas.microsoft.com/office/drawing/2014/main" id="{A0FE815D-542D-9187-124F-7EB794D7C4BE}"/>
              </a:ext>
            </a:extLst>
          </p:cNvPr>
          <p:cNvSpPr/>
          <p:nvPr/>
        </p:nvSpPr>
        <p:spPr>
          <a:xfrm>
            <a:off x="6225540" y="838196"/>
            <a:ext cx="2791510" cy="1344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</a:t>
            </a:r>
            <a:r>
              <a:rPr lang="en-US" altLang="zh-CN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+AI</a:t>
            </a: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双引擎：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国产仿真引擎</a:t>
            </a:r>
            <a:r>
              <a:rPr lang="en-US" altLang="zh-CN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华为盘古模型联合构建核心引擎</a:t>
            </a:r>
            <a:endParaRPr lang="en-US" altLang="zh-CN" sz="10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OT-IT全栈融合</a:t>
            </a: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：</a:t>
            </a:r>
            <a:r>
              <a:rPr lang="en-US" altLang="zh-CN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SCADA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采集到</a:t>
            </a:r>
            <a:r>
              <a:rPr lang="en-US" altLang="zh-CN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调度，从数据接入到</a:t>
            </a:r>
            <a:r>
              <a:rPr lang="en-US" altLang="zh-CN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用数的全链路闭环产品与能力</a:t>
            </a:r>
            <a:endParaRPr lang="en-US" altLang="zh-CN" sz="10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物理</a:t>
            </a:r>
            <a:r>
              <a:rPr lang="en-US" altLang="zh-CN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+</a:t>
            </a: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计算双补盲：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物理测点数据</a:t>
            </a:r>
            <a:r>
              <a:rPr lang="en-US" altLang="zh-CN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+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仿真推演数据补盲工况数据提升算法精度</a:t>
            </a:r>
            <a:endParaRPr lang="en-US" altLang="zh-CN" sz="10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全栈信创合规：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鲲鹏</a:t>
            </a:r>
            <a:r>
              <a:rPr lang="en-US" altLang="zh-CN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+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欧拉</a:t>
            </a:r>
            <a:r>
              <a:rPr lang="en-US" altLang="zh-CN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+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国产仿真</a:t>
            </a:r>
            <a:r>
              <a:rPr lang="en-US" altLang="zh-CN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+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国产</a:t>
            </a:r>
            <a:r>
              <a:rPr lang="en-US" altLang="zh-CN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SCADA</a:t>
            </a:r>
            <a:endParaRPr lang="zh-CN" altLang="en-US" sz="10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1000" dirty="0"/>
          </a:p>
        </p:txBody>
      </p:sp>
      <p:sp>
        <p:nvSpPr>
          <p:cNvPr id="128" name="Text 65">
            <a:extLst>
              <a:ext uri="{FF2B5EF4-FFF2-40B4-BE49-F238E27FC236}">
                <a16:creationId xmlns:a16="http://schemas.microsoft.com/office/drawing/2014/main" id="{46B5FC69-789B-8274-DA2B-CC01CFD21486}"/>
              </a:ext>
            </a:extLst>
          </p:cNvPr>
          <p:cNvSpPr/>
          <p:nvPr/>
        </p:nvSpPr>
        <p:spPr>
          <a:xfrm>
            <a:off x="6453038" y="2399533"/>
            <a:ext cx="2078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配置方案</a:t>
            </a:r>
            <a:endParaRPr lang="en-US" sz="1200" dirty="0"/>
          </a:p>
        </p:txBody>
      </p:sp>
      <p:sp>
        <p:nvSpPr>
          <p:cNvPr id="129" name="Text 65">
            <a:extLst>
              <a:ext uri="{FF2B5EF4-FFF2-40B4-BE49-F238E27FC236}">
                <a16:creationId xmlns:a16="http://schemas.microsoft.com/office/drawing/2014/main" id="{048F8E6E-798F-8C29-71B5-DA7DE34A4103}"/>
              </a:ext>
            </a:extLst>
          </p:cNvPr>
          <p:cNvSpPr/>
          <p:nvPr/>
        </p:nvSpPr>
        <p:spPr>
          <a:xfrm>
            <a:off x="6225540" y="2735575"/>
            <a:ext cx="2791510" cy="963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ROMA</a:t>
            </a: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数据接入平台：</a:t>
            </a:r>
            <a:endParaRPr lang="en-US" altLang="zh-CN" sz="1000" b="1" dirty="0">
              <a:solidFill>
                <a:srgbClr val="C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000" b="1" dirty="0" err="1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DataArts</a:t>
            </a: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数据治理平台：</a:t>
            </a:r>
            <a:endParaRPr lang="en-US" altLang="zh-CN" sz="1000" b="1" dirty="0">
              <a:solidFill>
                <a:srgbClr val="C00000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调度智能引擎（伙伴）：</a:t>
            </a:r>
            <a:endParaRPr lang="en-US" altLang="zh-CN" sz="1000" b="1" dirty="0">
              <a:solidFill>
                <a:srgbClr val="C00000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调度综合管控</a:t>
            </a:r>
            <a:r>
              <a:rPr lang="en-US" altLang="zh-CN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IOC</a:t>
            </a: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（伙伴）：</a:t>
            </a:r>
            <a:endParaRPr lang="en-US" altLang="zh-CN" sz="1000" b="1" dirty="0">
              <a:solidFill>
                <a:srgbClr val="C00000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盘古大模型：</a:t>
            </a:r>
            <a:r>
              <a:rPr lang="zh-CN" alt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气象预测模型、负荷预测模型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1000" dirty="0"/>
          </a:p>
        </p:txBody>
      </p:sp>
      <p:sp>
        <p:nvSpPr>
          <p:cNvPr id="130" name="Text 65">
            <a:extLst>
              <a:ext uri="{FF2B5EF4-FFF2-40B4-BE49-F238E27FC236}">
                <a16:creationId xmlns:a16="http://schemas.microsoft.com/office/drawing/2014/main" id="{BCD71A67-CB67-F1A3-4BAC-B0D1FB469B19}"/>
              </a:ext>
            </a:extLst>
          </p:cNvPr>
          <p:cNvSpPr/>
          <p:nvPr/>
        </p:nvSpPr>
        <p:spPr>
          <a:xfrm>
            <a:off x="6453038" y="3751851"/>
            <a:ext cx="2078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下一步计划</a:t>
            </a:r>
            <a:endParaRPr lang="en-US" sz="1200" dirty="0"/>
          </a:p>
        </p:txBody>
      </p:sp>
      <p:sp>
        <p:nvSpPr>
          <p:cNvPr id="131" name="Text 65">
            <a:extLst>
              <a:ext uri="{FF2B5EF4-FFF2-40B4-BE49-F238E27FC236}">
                <a16:creationId xmlns:a16="http://schemas.microsoft.com/office/drawing/2014/main" id="{28AC5BC9-3907-140C-D965-AC95D5E4EDA8}"/>
              </a:ext>
            </a:extLst>
          </p:cNvPr>
          <p:cNvSpPr/>
          <p:nvPr/>
        </p:nvSpPr>
        <p:spPr>
          <a:xfrm>
            <a:off x="6225540" y="4087893"/>
            <a:ext cx="2791510" cy="963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伙伴联合方案验证：</a:t>
            </a:r>
            <a:r>
              <a:rPr lang="zh-CN" altLang="en-US" sz="10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与睿呈</a:t>
            </a:r>
            <a:r>
              <a:rPr lang="en-US" altLang="zh-CN" sz="10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IOC</a:t>
            </a:r>
            <a:r>
              <a:rPr lang="zh-CN" altLang="en-US" sz="10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、湃孚运行大脑构建联合方案与验证</a:t>
            </a:r>
            <a:endParaRPr lang="en-US" altLang="zh-CN" sz="1000" dirty="0"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客户数据现状调研：</a:t>
            </a:r>
            <a:r>
              <a:rPr lang="zh-CN" altLang="en-US" sz="1000" dirty="0">
                <a:latin typeface="Microsoft YaHei" pitchFamily="34" charset="0"/>
                <a:ea typeface="Microsoft YaHei" pitchFamily="34" charset="-122"/>
              </a:rPr>
              <a:t>数据类型、数据量、各类系统、库表、文稿，评估数据工程实施方案</a:t>
            </a:r>
            <a:endParaRPr lang="en-US" altLang="zh-CN" sz="1000" dirty="0">
              <a:latin typeface="Microsoft YaHei" pitchFamily="34" charset="0"/>
              <a:ea typeface="Microsoft YaHei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算法选型：</a:t>
            </a:r>
            <a:r>
              <a:rPr lang="zh-CN" altLang="en-US" sz="1000" dirty="0">
                <a:latin typeface="Microsoft YaHei" pitchFamily="34" charset="0"/>
                <a:ea typeface="Microsoft YaHei" pitchFamily="34" charset="-122"/>
              </a:rPr>
              <a:t>气象预测、负荷预测等算法选取</a:t>
            </a:r>
            <a:endParaRPr lang="en-US" altLang="zh-CN" sz="1000" dirty="0">
              <a:latin typeface="Microsoft YaHei" pitchFamily="34" charset="0"/>
              <a:ea typeface="Microsoft YaHei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000" dirty="0">
              <a:latin typeface="Microsoft YaHei" pitchFamily="34" charset="0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6454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566</Words>
  <Application>Microsoft Office PowerPoint</Application>
  <PresentationFormat>全屏显示(16:9)</PresentationFormat>
  <Paragraphs>135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微软雅黑</vt:lpstr>
      <vt:lpstr>微软雅黑</vt:lpstr>
      <vt:lpstr>Arial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城市燃气管网智能运行调控解决方案</dc:title>
  <dc:subject>PptxGenJS Presentation</dc:subject>
  <dc:creator>Huawei</dc:creator>
  <cp:lastModifiedBy>佳威 练</cp:lastModifiedBy>
  <cp:revision>16</cp:revision>
  <dcterms:created xsi:type="dcterms:W3CDTF">2026-02-25T11:33:51Z</dcterms:created>
  <dcterms:modified xsi:type="dcterms:W3CDTF">2026-02-25T12:45:23Z</dcterms:modified>
</cp:coreProperties>
</file>